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18895" y="0"/>
            <a:ext cx="0" cy="6858000"/>
          </a:xfrm>
          <a:prstGeom prst="line">
            <a:avLst/>
          </a:prstGeom>
          <a:noFill/>
          <a:ln w="6350">
            <a:solidFill>
              <a:srgbClr val="2339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437790" y="0"/>
            <a:ext cx="0" cy="6858000"/>
          </a:xfrm>
          <a:prstGeom prst="line">
            <a:avLst/>
          </a:prstGeom>
          <a:noFill/>
          <a:ln w="6350">
            <a:solidFill>
              <a:srgbClr val="23392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6686" y="0"/>
            <a:ext cx="0" cy="6858000"/>
          </a:xfrm>
          <a:prstGeom prst="line">
            <a:avLst/>
          </a:prstGeom>
          <a:noFill/>
          <a:ln w="6350">
            <a:solidFill>
              <a:srgbClr val="23392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875581" y="0"/>
            <a:ext cx="0" cy="6858000"/>
          </a:xfrm>
          <a:prstGeom prst="line">
            <a:avLst/>
          </a:prstGeom>
          <a:noFill/>
          <a:ln w="6350">
            <a:solidFill>
              <a:srgbClr val="23392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4476" y="0"/>
            <a:ext cx="0" cy="6858000"/>
          </a:xfrm>
          <a:prstGeom prst="line">
            <a:avLst/>
          </a:prstGeom>
          <a:noFill/>
          <a:ln w="6350">
            <a:solidFill>
              <a:srgbClr val="23392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3371" y="0"/>
            <a:ext cx="0" cy="6858000"/>
          </a:xfrm>
          <a:prstGeom prst="line">
            <a:avLst/>
          </a:prstGeom>
          <a:noFill/>
          <a:ln w="6350">
            <a:solidFill>
              <a:srgbClr val="23392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32266" y="0"/>
            <a:ext cx="0" cy="6858000"/>
          </a:xfrm>
          <a:prstGeom prst="line">
            <a:avLst/>
          </a:prstGeom>
          <a:noFill/>
          <a:ln w="6350">
            <a:solidFill>
              <a:srgbClr val="23392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751162" y="0"/>
            <a:ext cx="0" cy="6858000"/>
          </a:xfrm>
          <a:prstGeom prst="line">
            <a:avLst/>
          </a:prstGeom>
          <a:noFill/>
          <a:ln w="6350">
            <a:solidFill>
              <a:srgbClr val="23392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0057" y="0"/>
            <a:ext cx="0" cy="6858000"/>
          </a:xfrm>
          <a:prstGeom prst="line">
            <a:avLst/>
          </a:prstGeom>
          <a:noFill/>
          <a:ln w="6350">
            <a:solidFill>
              <a:srgbClr val="23392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143000"/>
            <a:ext cx="12188952" cy="0"/>
          </a:xfrm>
          <a:prstGeom prst="line">
            <a:avLst/>
          </a:prstGeom>
          <a:noFill/>
          <a:ln w="6350">
            <a:solidFill>
              <a:srgbClr val="23392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2286000"/>
            <a:ext cx="12188952" cy="0"/>
          </a:xfrm>
          <a:prstGeom prst="line">
            <a:avLst/>
          </a:prstGeom>
          <a:noFill/>
          <a:ln w="6350">
            <a:solidFill>
              <a:srgbClr val="23392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3429000"/>
            <a:ext cx="12188952" cy="0"/>
          </a:xfrm>
          <a:prstGeom prst="line">
            <a:avLst/>
          </a:prstGeom>
          <a:noFill/>
          <a:ln w="6350">
            <a:solidFill>
              <a:srgbClr val="23392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4572000"/>
            <a:ext cx="12188952" cy="0"/>
          </a:xfrm>
          <a:prstGeom prst="line">
            <a:avLst/>
          </a:prstGeom>
          <a:noFill/>
          <a:ln w="6350">
            <a:solidFill>
              <a:srgbClr val="23392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5715000"/>
            <a:ext cx="12188952" cy="0"/>
          </a:xfrm>
          <a:prstGeom prst="line">
            <a:avLst/>
          </a:prstGeom>
          <a:noFill/>
          <a:ln w="6350">
            <a:solidFill>
              <a:srgbClr val="23392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5074920"/>
            <a:ext cx="304724" cy="-155411"/>
          </a:xfrm>
          <a:prstGeom prst="line">
            <a:avLst/>
          </a:prstGeom>
          <a:noFill/>
          <a:ln w="28575">
            <a:solidFill>
              <a:srgbClr val="4ADE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4724" y="4919509"/>
            <a:ext cx="304724" cy="-140198"/>
          </a:xfrm>
          <a:prstGeom prst="line">
            <a:avLst/>
          </a:prstGeom>
          <a:noFill/>
          <a:ln w="28575">
            <a:solidFill>
              <a:srgbClr val="4ADE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9448" y="4779311"/>
            <a:ext cx="304724" cy="-111262"/>
          </a:xfrm>
          <a:prstGeom prst="line">
            <a:avLst/>
          </a:prstGeom>
          <a:noFill/>
          <a:ln w="28575">
            <a:solidFill>
              <a:srgbClr val="4ADE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171" y="4668049"/>
            <a:ext cx="304724" cy="-71435"/>
          </a:xfrm>
          <a:prstGeom prst="line">
            <a:avLst/>
          </a:prstGeom>
          <a:noFill/>
          <a:ln w="28575">
            <a:solidFill>
              <a:srgbClr val="4ADE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18895" y="4596615"/>
            <a:ext cx="304724" cy="-24615"/>
          </a:xfrm>
          <a:prstGeom prst="line">
            <a:avLst/>
          </a:prstGeom>
          <a:noFill/>
          <a:ln w="28575">
            <a:solidFill>
              <a:srgbClr val="4ADE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23619" y="4572000"/>
            <a:ext cx="304724" cy="24615"/>
          </a:xfrm>
          <a:prstGeom prst="line">
            <a:avLst/>
          </a:prstGeom>
          <a:noFill/>
          <a:ln w="28575">
            <a:solidFill>
              <a:srgbClr val="4ADE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28343" y="4596615"/>
            <a:ext cx="304724" cy="71435"/>
          </a:xfrm>
          <a:prstGeom prst="line">
            <a:avLst/>
          </a:prstGeom>
          <a:noFill/>
          <a:ln w="28575">
            <a:solidFill>
              <a:srgbClr val="4ADE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133067" y="4668049"/>
            <a:ext cx="304724" cy="111262"/>
          </a:xfrm>
          <a:prstGeom prst="line">
            <a:avLst/>
          </a:prstGeom>
          <a:noFill/>
          <a:ln w="28575">
            <a:solidFill>
              <a:srgbClr val="4ADE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437790" y="4779311"/>
            <a:ext cx="304724" cy="140198"/>
          </a:xfrm>
          <a:prstGeom prst="line">
            <a:avLst/>
          </a:prstGeom>
          <a:noFill/>
          <a:ln w="28575">
            <a:solidFill>
              <a:srgbClr val="4ADE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2514" y="4919509"/>
            <a:ext cx="304724" cy="155411"/>
          </a:xfrm>
          <a:prstGeom prst="line">
            <a:avLst/>
          </a:prstGeom>
          <a:noFill/>
          <a:ln w="28575">
            <a:solidFill>
              <a:srgbClr val="4ADE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047238" y="5074920"/>
            <a:ext cx="304724" cy="155411"/>
          </a:xfrm>
          <a:prstGeom prst="line">
            <a:avLst/>
          </a:prstGeom>
          <a:noFill/>
          <a:ln w="28575">
            <a:solidFill>
              <a:srgbClr val="4ADE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51962" y="5230331"/>
            <a:ext cx="304724" cy="140198"/>
          </a:xfrm>
          <a:prstGeom prst="line">
            <a:avLst/>
          </a:prstGeom>
          <a:noFill/>
          <a:ln w="28575">
            <a:solidFill>
              <a:srgbClr val="4ADE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6686" y="5370529"/>
            <a:ext cx="304724" cy="111262"/>
          </a:xfrm>
          <a:prstGeom prst="line">
            <a:avLst/>
          </a:prstGeom>
          <a:noFill/>
          <a:ln w="28575">
            <a:solidFill>
              <a:srgbClr val="4ADE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961409" y="5481791"/>
            <a:ext cx="304724" cy="71435"/>
          </a:xfrm>
          <a:prstGeom prst="line">
            <a:avLst/>
          </a:prstGeom>
          <a:noFill/>
          <a:ln w="28575">
            <a:solidFill>
              <a:srgbClr val="4ADE8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66133" y="5553225"/>
            <a:ext cx="304724" cy="24615"/>
          </a:xfrm>
          <a:prstGeom prst="line">
            <a:avLst/>
          </a:prstGeom>
          <a:noFill/>
          <a:ln w="28575">
            <a:solidFill>
              <a:srgbClr val="4ADE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0857" y="5577840"/>
            <a:ext cx="304724" cy="-24615"/>
          </a:xfrm>
          <a:prstGeom prst="line">
            <a:avLst/>
          </a:prstGeom>
          <a:noFill/>
          <a:ln w="28575">
            <a:solidFill>
              <a:srgbClr val="4ADE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75581" y="5553225"/>
            <a:ext cx="304724" cy="-71435"/>
          </a:xfrm>
          <a:prstGeom prst="line">
            <a:avLst/>
          </a:prstGeom>
          <a:noFill/>
          <a:ln w="28575">
            <a:solidFill>
              <a:srgbClr val="4ADE8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80305" y="5481791"/>
            <a:ext cx="304724" cy="-111262"/>
          </a:xfrm>
          <a:prstGeom prst="line">
            <a:avLst/>
          </a:prstGeom>
          <a:noFill/>
          <a:ln w="28575">
            <a:solidFill>
              <a:srgbClr val="4ADE8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85028" y="5370529"/>
            <a:ext cx="304724" cy="-140198"/>
          </a:xfrm>
          <a:prstGeom prst="line">
            <a:avLst/>
          </a:prstGeom>
          <a:noFill/>
          <a:ln w="28575">
            <a:solidFill>
              <a:srgbClr val="4ADE8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789752" y="5230331"/>
            <a:ext cx="304724" cy="-155411"/>
          </a:xfrm>
          <a:prstGeom prst="line">
            <a:avLst/>
          </a:prstGeom>
          <a:noFill/>
          <a:ln w="28575">
            <a:solidFill>
              <a:srgbClr val="4ADE8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94476" y="5074920"/>
            <a:ext cx="304724" cy="-155411"/>
          </a:xfrm>
          <a:prstGeom prst="line">
            <a:avLst/>
          </a:prstGeom>
          <a:noFill/>
          <a:ln w="28575">
            <a:solidFill>
              <a:srgbClr val="4ADE8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99200" y="4919509"/>
            <a:ext cx="304724" cy="-140198"/>
          </a:xfrm>
          <a:prstGeom prst="line">
            <a:avLst/>
          </a:prstGeom>
          <a:noFill/>
          <a:ln w="28575">
            <a:solidFill>
              <a:srgbClr val="4ADE8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703924" y="4779311"/>
            <a:ext cx="304724" cy="-111262"/>
          </a:xfrm>
          <a:prstGeom prst="line">
            <a:avLst/>
          </a:prstGeom>
          <a:noFill/>
          <a:ln w="28575">
            <a:solidFill>
              <a:srgbClr val="4ADE8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008647" y="4668049"/>
            <a:ext cx="304724" cy="-71435"/>
          </a:xfrm>
          <a:prstGeom prst="line">
            <a:avLst/>
          </a:prstGeom>
          <a:noFill/>
          <a:ln w="28575">
            <a:solidFill>
              <a:srgbClr val="4ADE8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313371" y="4596615"/>
            <a:ext cx="304724" cy="-24615"/>
          </a:xfrm>
          <a:prstGeom prst="line">
            <a:avLst/>
          </a:prstGeom>
          <a:noFill/>
          <a:ln w="28575">
            <a:solidFill>
              <a:srgbClr val="4ADE8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618095" y="4572000"/>
            <a:ext cx="304724" cy="24615"/>
          </a:xfrm>
          <a:prstGeom prst="line">
            <a:avLst/>
          </a:prstGeom>
          <a:noFill/>
          <a:ln w="28575">
            <a:solidFill>
              <a:srgbClr val="4ADE8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922819" y="4596615"/>
            <a:ext cx="304724" cy="71435"/>
          </a:xfrm>
          <a:prstGeom prst="line">
            <a:avLst/>
          </a:prstGeom>
          <a:noFill/>
          <a:ln w="28575">
            <a:solidFill>
              <a:srgbClr val="4ADE8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227543" y="4668049"/>
            <a:ext cx="304724" cy="111262"/>
          </a:xfrm>
          <a:prstGeom prst="line">
            <a:avLst/>
          </a:prstGeom>
          <a:noFill/>
          <a:ln w="28575">
            <a:solidFill>
              <a:srgbClr val="4ADE8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532266" y="4779311"/>
            <a:ext cx="304724" cy="140198"/>
          </a:xfrm>
          <a:prstGeom prst="line">
            <a:avLst/>
          </a:prstGeom>
          <a:noFill/>
          <a:ln w="28575">
            <a:solidFill>
              <a:srgbClr val="4ADE8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836990" y="4919509"/>
            <a:ext cx="304724" cy="155411"/>
          </a:xfrm>
          <a:prstGeom prst="line">
            <a:avLst/>
          </a:prstGeom>
          <a:noFill/>
          <a:ln w="28575">
            <a:solidFill>
              <a:srgbClr val="4ADE8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141714" y="5074920"/>
            <a:ext cx="304724" cy="155411"/>
          </a:xfrm>
          <a:prstGeom prst="line">
            <a:avLst/>
          </a:prstGeom>
          <a:noFill/>
          <a:ln w="28575">
            <a:solidFill>
              <a:srgbClr val="4ADE8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446438" y="5230331"/>
            <a:ext cx="304724" cy="140198"/>
          </a:xfrm>
          <a:prstGeom prst="line">
            <a:avLst/>
          </a:prstGeom>
          <a:noFill/>
          <a:ln w="28575">
            <a:solidFill>
              <a:srgbClr val="4ADE8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751162" y="5370529"/>
            <a:ext cx="304724" cy="111262"/>
          </a:xfrm>
          <a:prstGeom prst="line">
            <a:avLst/>
          </a:prstGeom>
          <a:noFill/>
          <a:ln w="28575">
            <a:solidFill>
              <a:srgbClr val="4ADE8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055885" y="5481791"/>
            <a:ext cx="304724" cy="71435"/>
          </a:xfrm>
          <a:prstGeom prst="line">
            <a:avLst/>
          </a:prstGeom>
          <a:noFill/>
          <a:ln w="28575">
            <a:solidFill>
              <a:srgbClr val="4ADE8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360609" y="5553225"/>
            <a:ext cx="304724" cy="24615"/>
          </a:xfrm>
          <a:prstGeom prst="line">
            <a:avLst/>
          </a:prstGeom>
          <a:noFill/>
          <a:ln w="28575">
            <a:solidFill>
              <a:srgbClr val="4ADE8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665333" y="5577840"/>
            <a:ext cx="304724" cy="-24615"/>
          </a:xfrm>
          <a:prstGeom prst="line">
            <a:avLst/>
          </a:prstGeom>
          <a:noFill/>
          <a:ln w="28575">
            <a:solidFill>
              <a:srgbClr val="4ADE8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970057" y="5553225"/>
            <a:ext cx="304724" cy="-71435"/>
          </a:xfrm>
          <a:prstGeom prst="line">
            <a:avLst/>
          </a:prstGeom>
          <a:noFill/>
          <a:ln w="28575">
            <a:solidFill>
              <a:srgbClr val="4ADE8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1274781" y="5481791"/>
            <a:ext cx="304724" cy="-111262"/>
          </a:xfrm>
          <a:prstGeom prst="line">
            <a:avLst/>
          </a:prstGeom>
          <a:noFill/>
          <a:ln w="28575">
            <a:solidFill>
              <a:srgbClr val="4ADE8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1579504" y="5370529"/>
            <a:ext cx="304724" cy="-140198"/>
          </a:xfrm>
          <a:prstGeom prst="line">
            <a:avLst/>
          </a:prstGeom>
          <a:noFill/>
          <a:ln w="28575">
            <a:solidFill>
              <a:srgbClr val="4ADE8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1884228" y="5230331"/>
            <a:ext cx="304724" cy="-155411"/>
          </a:xfrm>
          <a:prstGeom prst="line">
            <a:avLst/>
          </a:prstGeom>
          <a:noFill/>
          <a:ln w="28575">
            <a:solidFill>
              <a:srgbClr val="4ADE8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0" y="5074920"/>
            <a:ext cx="12188952" cy="0"/>
          </a:xfrm>
          <a:prstGeom prst="line">
            <a:avLst/>
          </a:prstGeom>
          <a:noFill/>
          <a:ln w="15875">
            <a:solidFill>
              <a:srgbClr val="FBBF24"/>
            </a:solidFill>
            <a:prstDash val="dash"/>
          </a:ln>
        </p:spPr>
      </p:sp>
      <p:sp>
        <p:nvSpPr>
          <p:cNvPr id="57" name="Text 55"/>
          <p:cNvSpPr/>
          <p:nvPr/>
        </p:nvSpPr>
        <p:spPr>
          <a:xfrm>
            <a:off x="457200" y="51389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trigger 0.40 V (rise) — TRIGGERED · LOCKED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457200" y="566928"/>
            <a:ext cx="1051560" cy="1051560"/>
          </a:xfrm>
          <a:prstGeom prst="rect">
            <a:avLst/>
          </a:prstGeom>
          <a:solidFill>
            <a:srgbClr val="4ADE8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E15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匠</a:t>
            </a:r>
            <a:endParaRPr lang="en-US" sz="6000" dirty="0"/>
          </a:p>
        </p:txBody>
      </p:sp>
      <p:sp>
        <p:nvSpPr>
          <p:cNvPr id="59" name="Text 57"/>
          <p:cNvSpPr/>
          <p:nvPr/>
        </p:nvSpPr>
        <p:spPr>
          <a:xfrm>
            <a:off x="1783080" y="658368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700" b="1" spc="400" kern="0" dirty="0">
                <a:solidFill>
                  <a:srgbClr val="E6EF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TAKUMI</a:t>
            </a:r>
            <a:endParaRPr lang="en-US" sz="4700" dirty="0"/>
          </a:p>
        </p:txBody>
      </p:sp>
      <p:sp>
        <p:nvSpPr>
          <p:cNvPr id="60" name="Text 58"/>
          <p:cNvSpPr/>
          <p:nvPr/>
        </p:nvSpPr>
        <p:spPr>
          <a:xfrm>
            <a:off x="1783080" y="137160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AA3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Expert knowledge, captured. Craftsmanship, inherited.</a:t>
            </a:r>
            <a:endParaRPr lang="en-US" sz="1800" dirty="0"/>
          </a:p>
        </p:txBody>
      </p:sp>
      <p:sp>
        <p:nvSpPr>
          <p:cNvPr id="61" name="Text 59"/>
          <p:cNvSpPr/>
          <p:nvPr/>
        </p:nvSpPr>
        <p:spPr>
          <a:xfrm>
            <a:off x="457200" y="2331720"/>
            <a:ext cx="9875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E6EF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Preserving &amp; Transferring Tacit Technical Expertise to Future Generations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JETRO-PS-03 · Thapar Japan Hackathon 2026 — Bridging Tradition and Innovation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8AA3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[NAME]  ·  [Member 1] · [Member 2] · [Member 3] · [Member 4]</a:t>
            </a:r>
            <a:endParaRPr lang="en-US" sz="2000" dirty="0"/>
          </a:p>
        </p:txBody>
      </p:sp>
      <p:sp>
        <p:nvSpPr>
          <p:cNvPr id="62" name="Text 60"/>
          <p:cNvSpPr/>
          <p:nvPr/>
        </p:nvSpPr>
        <p:spPr>
          <a:xfrm>
            <a:off x="457200" y="58064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CAPTURE ▸ EXTRACT ▸ REVIEW ▸ APPROVE ▸ PRACTICE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457200" y="61722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8AA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OFFLINE-CAPABLE · RECORDINGS STAY LOCAL · ZERO PAID API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18895" y="0"/>
            <a:ext cx="0" cy="6858000"/>
          </a:xfrm>
          <a:prstGeom prst="line">
            <a:avLst/>
          </a:prstGeom>
          <a:noFill/>
          <a:ln w="6350">
            <a:solidFill>
              <a:srgbClr val="2339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437790" y="0"/>
            <a:ext cx="0" cy="6858000"/>
          </a:xfrm>
          <a:prstGeom prst="line">
            <a:avLst/>
          </a:prstGeom>
          <a:noFill/>
          <a:ln w="6350">
            <a:solidFill>
              <a:srgbClr val="23392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6686" y="0"/>
            <a:ext cx="0" cy="6858000"/>
          </a:xfrm>
          <a:prstGeom prst="line">
            <a:avLst/>
          </a:prstGeom>
          <a:noFill/>
          <a:ln w="6350">
            <a:solidFill>
              <a:srgbClr val="23392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875581" y="0"/>
            <a:ext cx="0" cy="6858000"/>
          </a:xfrm>
          <a:prstGeom prst="line">
            <a:avLst/>
          </a:prstGeom>
          <a:noFill/>
          <a:ln w="6350">
            <a:solidFill>
              <a:srgbClr val="23392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4476" y="0"/>
            <a:ext cx="0" cy="6858000"/>
          </a:xfrm>
          <a:prstGeom prst="line">
            <a:avLst/>
          </a:prstGeom>
          <a:noFill/>
          <a:ln w="6350">
            <a:solidFill>
              <a:srgbClr val="23392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3371" y="0"/>
            <a:ext cx="0" cy="6858000"/>
          </a:xfrm>
          <a:prstGeom prst="line">
            <a:avLst/>
          </a:prstGeom>
          <a:noFill/>
          <a:ln w="6350">
            <a:solidFill>
              <a:srgbClr val="23392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32266" y="0"/>
            <a:ext cx="0" cy="6858000"/>
          </a:xfrm>
          <a:prstGeom prst="line">
            <a:avLst/>
          </a:prstGeom>
          <a:noFill/>
          <a:ln w="6350">
            <a:solidFill>
              <a:srgbClr val="23392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751162" y="0"/>
            <a:ext cx="0" cy="6858000"/>
          </a:xfrm>
          <a:prstGeom prst="line">
            <a:avLst/>
          </a:prstGeom>
          <a:noFill/>
          <a:ln w="6350">
            <a:solidFill>
              <a:srgbClr val="23392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0057" y="0"/>
            <a:ext cx="0" cy="6858000"/>
          </a:xfrm>
          <a:prstGeom prst="line">
            <a:avLst/>
          </a:prstGeom>
          <a:noFill/>
          <a:ln w="6350">
            <a:solidFill>
              <a:srgbClr val="23392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143000"/>
            <a:ext cx="12188952" cy="0"/>
          </a:xfrm>
          <a:prstGeom prst="line">
            <a:avLst/>
          </a:prstGeom>
          <a:noFill/>
          <a:ln w="6350">
            <a:solidFill>
              <a:srgbClr val="23392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2286000"/>
            <a:ext cx="12188952" cy="0"/>
          </a:xfrm>
          <a:prstGeom prst="line">
            <a:avLst/>
          </a:prstGeom>
          <a:noFill/>
          <a:ln w="6350">
            <a:solidFill>
              <a:srgbClr val="23392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3429000"/>
            <a:ext cx="12188952" cy="0"/>
          </a:xfrm>
          <a:prstGeom prst="line">
            <a:avLst/>
          </a:prstGeom>
          <a:noFill/>
          <a:ln w="6350">
            <a:solidFill>
              <a:srgbClr val="23392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4572000"/>
            <a:ext cx="12188952" cy="0"/>
          </a:xfrm>
          <a:prstGeom prst="line">
            <a:avLst/>
          </a:prstGeom>
          <a:noFill/>
          <a:ln w="6350">
            <a:solidFill>
              <a:srgbClr val="23392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5715000"/>
            <a:ext cx="12188952" cy="0"/>
          </a:xfrm>
          <a:prstGeom prst="line">
            <a:avLst/>
          </a:prstGeom>
          <a:noFill/>
          <a:ln w="6350">
            <a:solidFill>
              <a:srgbClr val="23392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57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F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knowledge leaves before it is written down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57200" y="11430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A3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Japan's master technicians are retiring faster than apprenticeships can replace them. What they know lives in hands and judgement — not manuals. A retiring expert takes decades of micro-decisions with them.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" y="2240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a single 3-minute demonstration actually contains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2761488"/>
            <a:ext cx="128016" cy="128016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269748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F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Rules never written  </a:t>
            </a:r>
            <a:pPr indent="0" marL="0">
              <a:buNone/>
            </a:pPr>
            <a:r>
              <a:rPr lang="en-US" sz="1300" i="1" dirty="0">
                <a:solidFill>
                  <a:srgbClr val="8AA3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“Connect the ground clip first — tip-first can float and damage the front end.”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457200" y="3474720"/>
            <a:ext cx="128016" cy="128016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410712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F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math behind the feel  </a:t>
            </a:r>
            <a:pPr indent="0" marL="0">
              <a:buNone/>
            </a:pPr>
            <a:r>
              <a:rPr lang="en-US" sz="1300" i="1" dirty="0">
                <a:solidFill>
                  <a:srgbClr val="8AA3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“500 mV/div — 2 V needs 4 of 8 divisions, leaving headroom for overshoot.”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457200" y="4187952"/>
            <a:ext cx="128016" cy="128016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4123944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F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Rules of thumb  </a:t>
            </a:r>
            <a:pPr indent="0" marL="0">
              <a:buNone/>
            </a:pPr>
            <a:r>
              <a:rPr lang="en-US" sz="1300" i="1" dirty="0">
                <a:solidFill>
                  <a:srgbClr val="8AA3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“Two cycles on screen — enough to judge period and symmetry.”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457200" y="4901184"/>
            <a:ext cx="128016" cy="128016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4837176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F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Failure diagnosis  </a:t>
            </a:r>
            <a:pPr indent="0" marL="0">
              <a:buNone/>
            </a:pPr>
            <a:r>
              <a:rPr lang="en-US" sz="1300" i="1" dirty="0">
                <a:solidFill>
                  <a:srgbClr val="8AA3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“Park the level on the noisy flat top and the display jitters all day.”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457200" y="5614416"/>
            <a:ext cx="128016" cy="128016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5550408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F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Recovery moves  </a:t>
            </a:r>
            <a:pPr indent="0" marL="0">
              <a:buNone/>
            </a:pPr>
            <a:r>
              <a:rPr lang="en-US" sz="1300" i="1" dirty="0">
                <a:solidFill>
                  <a:srgbClr val="8AA3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“Enable trigger, walk the level to a clean rising crossing, stop.”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7452360" y="2240280"/>
            <a:ext cx="4279392" cy="4023360"/>
          </a:xfrm>
          <a:prstGeom prst="roundRect">
            <a:avLst>
              <a:gd name="adj" fmla="val 1818"/>
            </a:avLst>
          </a:prstGeom>
          <a:solidFill>
            <a:srgbClr val="16241F"/>
          </a:solidFill>
          <a:ln w="9525">
            <a:solidFill>
              <a:srgbClr val="23392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26680" y="2514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VIDEO ALONE FAILS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726680" y="2926080"/>
            <a:ext cx="3794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200"/>
              </a:spcAft>
              <a:buSzPct val="100000"/>
              <a:buChar char="–"/>
            </a:pPr>
            <a:r>
              <a:rPr lang="en-US" sz="1350" dirty="0">
                <a:solidFill>
                  <a:srgbClr val="E6EF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Unstructured — a 5-minute video holds ~40 micro-decisions nobody can search</a:t>
            </a:r>
            <a:endParaRPr lang="en-US" sz="1350" dirty="0"/>
          </a:p>
          <a:p>
            <a:pPr marL="152400" indent="-152400">
              <a:spcAft>
                <a:spcPts val="1200"/>
              </a:spcAft>
              <a:buSzPct val="100000"/>
              <a:buChar char="–"/>
            </a:pPr>
            <a:r>
              <a:rPr lang="en-US" sz="1350" dirty="0">
                <a:solidFill>
                  <a:srgbClr val="E6EF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Unverified — transcripts mis-hear; no link from claim to evidence</a:t>
            </a:r>
            <a:endParaRPr lang="en-US" sz="1350" dirty="0"/>
          </a:p>
          <a:p>
            <a:pPr marL="152400" indent="-152400">
              <a:spcAft>
                <a:spcPts val="1200"/>
              </a:spcAft>
              <a:buSzPct val="100000"/>
              <a:buChar char="–"/>
            </a:pPr>
            <a:r>
              <a:rPr lang="en-US" sz="1350" dirty="0">
                <a:solidFill>
                  <a:srgbClr val="E6EF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Untested — watching is not doing; nothing checks the trainee</a:t>
            </a:r>
            <a:endParaRPr lang="en-US" sz="1350" dirty="0"/>
          </a:p>
          <a:p>
            <a:pPr marL="152400" indent="-152400">
              <a:spcAft>
                <a:spcPts val="1200"/>
              </a:spcAft>
              <a:buSzPct val="100000"/>
              <a:buChar char="–"/>
            </a:pPr>
            <a:r>
              <a:rPr lang="en-US" sz="1350" dirty="0">
                <a:solidFill>
                  <a:srgbClr val="E6EF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Unowned — the expert never confirms what AI inferred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7726680" y="562356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A3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Evidence: bundled expert demonstration on oscilloscope setup &amp; signal troubleshooting (5 steps extracted, 3 gaps flagged for the expert).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F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video becomes a lesson a trainee can practice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121408" cy="1417320"/>
          </a:xfrm>
          <a:prstGeom prst="roundRect">
            <a:avLst>
              <a:gd name="adj" fmla="val 5161"/>
            </a:avLst>
          </a:prstGeom>
          <a:solidFill>
            <a:srgbClr val="16241F"/>
          </a:solidFill>
          <a:ln w="9525">
            <a:solidFill>
              <a:srgbClr val="2339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3504" y="13716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3504" y="1938528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150" kern="0" dirty="0">
                <a:solidFill>
                  <a:srgbClr val="E6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CAPTURE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2212848"/>
            <a:ext cx="184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A3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≤5-min demo video; stays on-device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523744" y="17373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C6E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779776" y="1234440"/>
            <a:ext cx="2121408" cy="1417320"/>
          </a:xfrm>
          <a:prstGeom prst="roundRect">
            <a:avLst>
              <a:gd name="adj" fmla="val 5161"/>
            </a:avLst>
          </a:prstGeom>
          <a:solidFill>
            <a:srgbClr val="16241F"/>
          </a:solidFill>
          <a:ln w="9525">
            <a:solidFill>
              <a:srgbClr val="2339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0" y="13716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926080" y="1938528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150" kern="0" dirty="0">
                <a:solidFill>
                  <a:srgbClr val="E6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EXTRACT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926080" y="2212848"/>
            <a:ext cx="184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A3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 transcription + AI draft with evidence links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46320" y="17373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C6E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102352" y="1234440"/>
            <a:ext cx="2121408" cy="1417320"/>
          </a:xfrm>
          <a:prstGeom prst="roundRect">
            <a:avLst>
              <a:gd name="adj" fmla="val 5161"/>
            </a:avLst>
          </a:prstGeom>
          <a:solidFill>
            <a:srgbClr val="16241F"/>
          </a:solidFill>
          <a:ln w="9525">
            <a:solidFill>
              <a:srgbClr val="23392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48656" y="13716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5248656" y="1938528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150" kern="0" dirty="0">
                <a:solidFill>
                  <a:srgbClr val="E6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248656" y="2212848"/>
            <a:ext cx="184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A3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expert corrects, answers gaps, sees provenance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168896" y="17373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C6E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424928" y="1234440"/>
            <a:ext cx="2121408" cy="1417320"/>
          </a:xfrm>
          <a:prstGeom prst="roundRect">
            <a:avLst>
              <a:gd name="adj" fmla="val 5161"/>
            </a:avLst>
          </a:prstGeom>
          <a:solidFill>
            <a:srgbClr val="16241F"/>
          </a:solidFill>
          <a:ln w="9525">
            <a:solidFill>
              <a:srgbClr val="23392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71232" y="13716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7571232" y="1938528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150" kern="0" dirty="0">
                <a:solidFill>
                  <a:srgbClr val="E6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APPROVE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571232" y="2212848"/>
            <a:ext cx="184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A3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approved versions reach trainees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491472" y="17373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C6E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747504" y="1234440"/>
            <a:ext cx="2121408" cy="1417320"/>
          </a:xfrm>
          <a:prstGeom prst="roundRect">
            <a:avLst>
              <a:gd name="adj" fmla="val 5161"/>
            </a:avLst>
          </a:prstGeom>
          <a:solidFill>
            <a:srgbClr val="1B2E26"/>
          </a:solidFill>
          <a:ln w="9525">
            <a:solidFill>
              <a:srgbClr val="23392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93808" y="13716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9893808" y="1938528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150" kern="0" dirty="0">
                <a:solidFill>
                  <a:srgbClr val="E6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PRACTICE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893808" y="2212848"/>
            <a:ext cx="184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A3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simulator scores decisions, cites the expert</a:t>
            </a:r>
            <a:endParaRPr lang="en-US" sz="1050" dirty="0"/>
          </a:p>
        </p:txBody>
      </p:sp>
      <p:pic>
        <p:nvPicPr>
          <p:cNvPr id="27" name="Image 0" descr="docs/screenshots/practice-trigger-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834640"/>
            <a:ext cx="5852160" cy="365760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457200" y="6547104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A3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prototype — feedback quotes the expert's own recovery rule.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6629400" y="2834640"/>
            <a:ext cx="5102352" cy="3611880"/>
          </a:xfrm>
          <a:prstGeom prst="roundRect">
            <a:avLst>
              <a:gd name="adj" fmla="val 2025"/>
            </a:avLst>
          </a:prstGeom>
          <a:solidFill>
            <a:srgbClr val="16241F"/>
          </a:solidFill>
          <a:ln w="9525">
            <a:solidFill>
              <a:srgbClr val="23392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858000" y="306324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DESIGN PRINCIPLES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858000" y="3447288"/>
            <a:ext cx="4709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400"/>
              </a:spcAft>
              <a:buSzPct val="100000"/>
              <a:buChar char="–"/>
            </a:pPr>
            <a:r>
              <a:rPr lang="en-US" sz="1350" dirty="0">
                <a:solidFill>
                  <a:srgbClr val="E6EF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expert stays the author — nothing trains without approval</a:t>
            </a:r>
            <a:endParaRPr lang="en-US" sz="1350" dirty="0"/>
          </a:p>
          <a:p>
            <a:pPr marL="152400" indent="-152400">
              <a:spcAft>
                <a:spcPts val="1400"/>
              </a:spcAft>
              <a:buSzPct val="100000"/>
              <a:buChar char="–"/>
            </a:pPr>
            <a:r>
              <a:rPr lang="en-US" sz="1350" dirty="0">
                <a:solidFill>
                  <a:srgbClr val="E6EF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claim links to a verbatim transcript moment</a:t>
            </a:r>
            <a:endParaRPr lang="en-US" sz="1350" dirty="0"/>
          </a:p>
          <a:p>
            <a:pPr marL="152400" indent="-152400">
              <a:spcAft>
                <a:spcPts val="1400"/>
              </a:spcAft>
              <a:buSzPct val="100000"/>
              <a:buChar char="–"/>
            </a:pPr>
            <a:r>
              <a:rPr lang="en-US" sz="1350" dirty="0">
                <a:solidFill>
                  <a:srgbClr val="E6EF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Missing knowledge stays visibly incomplete, never invented</a:t>
            </a:r>
            <a:endParaRPr lang="en-US" sz="1350" dirty="0"/>
          </a:p>
          <a:p>
            <a:pPr marL="152400" indent="-152400">
              <a:spcAft>
                <a:spcPts val="1400"/>
              </a:spcAft>
              <a:buSzPct val="100000"/>
              <a:buChar char="–"/>
            </a:pPr>
            <a:r>
              <a:rPr lang="en-US" sz="1350" dirty="0">
                <a:solidFill>
                  <a:srgbClr val="E6EF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Practice checks decisions; bench observation stays human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F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like an instrument: local by default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16241F"/>
          </a:solidFill>
          <a:ln w="9525">
            <a:solidFill>
              <a:srgbClr val="2339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38988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RECORDING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94360" y="16916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A3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video/audio · local disk, never uploaded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907792" y="15544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C6E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0" y="128016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16241F"/>
          </a:solidFill>
          <a:ln w="9525">
            <a:solidFill>
              <a:srgbClr val="23392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138988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TRANSCRIBE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337560" y="16916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A3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faster-whisper small.en · CPU INT8 · on-device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650992" y="15544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C6E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43600" y="1280160"/>
            <a:ext cx="3017520" cy="914400"/>
          </a:xfrm>
          <a:prstGeom prst="roundRect">
            <a:avLst>
              <a:gd name="adj" fmla="val 8000"/>
            </a:avLst>
          </a:prstGeom>
          <a:solidFill>
            <a:srgbClr val="16241F"/>
          </a:solidFill>
          <a:ln w="9525">
            <a:solidFill>
              <a:srgbClr val="23392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80760" y="138988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EXTRACT (provider adapter)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080760" y="16916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A3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structured JSON + verbatim evidence refs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034272" y="15544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C6E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326880" y="1280160"/>
            <a:ext cx="2404872" cy="914400"/>
          </a:xfrm>
          <a:prstGeom prst="roundRect">
            <a:avLst>
              <a:gd name="adj" fmla="val 8000"/>
            </a:avLst>
          </a:prstGeom>
          <a:solidFill>
            <a:srgbClr val="16241F"/>
          </a:solidFill>
          <a:ln w="9525">
            <a:solidFill>
              <a:srgbClr val="23392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64040" y="1389888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464040" y="1691640"/>
            <a:ext cx="2130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A3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schema + evidence-vs-transcript check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943600" y="2514600"/>
            <a:ext cx="3017520" cy="914400"/>
          </a:xfrm>
          <a:prstGeom prst="roundRect">
            <a:avLst>
              <a:gd name="adj" fmla="val 8000"/>
            </a:avLst>
          </a:prstGeom>
          <a:solidFill>
            <a:srgbClr val="16241F"/>
          </a:solidFill>
          <a:ln w="9525">
            <a:solidFill>
              <a:srgbClr val="23392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0760" y="262432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 &amp; APPROVE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080760" y="29260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A3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expert editor; approval gating; version history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650992" y="27889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C6E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200400" y="251460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16241F"/>
          </a:solidFill>
          <a:ln w="9525">
            <a:solidFill>
              <a:srgbClr val="23392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262432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LESSON STORE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337560" y="2926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A3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SQLite · draft/approved versions · attempts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948672" y="27889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C6E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326880" y="2514600"/>
            <a:ext cx="2404872" cy="914400"/>
          </a:xfrm>
          <a:prstGeom prst="roundRect">
            <a:avLst>
              <a:gd name="adj" fmla="val 8000"/>
            </a:avLst>
          </a:prstGeom>
          <a:solidFill>
            <a:srgbClr val="16241F"/>
          </a:solidFill>
          <a:ln w="9525">
            <a:solidFill>
              <a:srgbClr val="23392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464040" y="2624328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PRACTICE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464040" y="2926080"/>
            <a:ext cx="2130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A3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scope simulator · server-recomputed scores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7200" y="251460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1B2E26"/>
          </a:solidFill>
          <a:ln w="9525">
            <a:solidFill>
              <a:srgbClr val="23392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26243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EXTRACT PROVIDERS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94360" y="290779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A3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NVIDIA NIM (gated) · Ollama local · bundled offline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57200" y="3840480"/>
            <a:ext cx="5486400" cy="2468880"/>
          </a:xfrm>
          <a:prstGeom prst="roundRect">
            <a:avLst>
              <a:gd name="adj" fmla="val 2963"/>
            </a:avLst>
          </a:prstGeom>
          <a:solidFill>
            <a:srgbClr val="16241F"/>
          </a:solidFill>
          <a:ln w="9525">
            <a:solidFill>
              <a:srgbClr val="23392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4069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85800" y="4407408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900"/>
              </a:spcAft>
              <a:buSzPct val="100000"/>
              <a:buChar char="–"/>
            </a:pPr>
            <a:r>
              <a:rPr lang="en-US" sz="1250" dirty="0">
                <a:solidFill>
                  <a:srgbClr val="E6EF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+ TypeScript + Vite — canvas oscilloscope simulator</a:t>
            </a:r>
            <a:endParaRPr lang="en-US" sz="1250" dirty="0"/>
          </a:p>
          <a:p>
            <a:pPr marL="152400" indent="-152400">
              <a:spcAft>
                <a:spcPts val="900"/>
              </a:spcAft>
              <a:buSzPct val="100000"/>
              <a:buChar char="–"/>
            </a:pPr>
            <a:r>
              <a:rPr lang="en-US" sz="1250" dirty="0">
                <a:solidFill>
                  <a:srgbClr val="E6EF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FastAPI + SQLite (WAL) — background jobs with progress &amp; failure states</a:t>
            </a:r>
            <a:endParaRPr lang="en-US" sz="1250" dirty="0"/>
          </a:p>
          <a:p>
            <a:pPr marL="152400" indent="-152400">
              <a:spcAft>
                <a:spcPts val="900"/>
              </a:spcAft>
              <a:buSzPct val="100000"/>
              <a:buChar char="–"/>
            </a:pPr>
            <a:r>
              <a:rPr lang="en-US" sz="1250" dirty="0">
                <a:solidFill>
                  <a:srgbClr val="E6EF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faster-whisper INT8 on CPU — extraction caching, bounded LLM requests</a:t>
            </a:r>
            <a:endParaRPr lang="en-US" sz="1250" dirty="0"/>
          </a:p>
          <a:p>
            <a:pPr marL="152400" indent="-152400">
              <a:spcAft>
                <a:spcPts val="900"/>
              </a:spcAft>
              <a:buSzPct val="100000"/>
              <a:buChar char="–"/>
            </a:pPr>
            <a:r>
              <a:rPr lang="en-US" sz="1250" dirty="0">
                <a:solidFill>
                  <a:srgbClr val="E6EF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Single-command offline demo — frontend served by the backend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263640" y="3840480"/>
            <a:ext cx="5468112" cy="2468880"/>
          </a:xfrm>
          <a:prstGeom prst="roundRect">
            <a:avLst>
              <a:gd name="adj" fmla="val 2963"/>
            </a:avLst>
          </a:prstGeom>
          <a:solidFill>
            <a:srgbClr val="16241F"/>
          </a:solidFill>
          <a:ln w="9525">
            <a:solidFill>
              <a:srgbClr val="23392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92240" y="4069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GUARANTEES ENFORCED IN CODE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492240" y="4407408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900"/>
              </a:spcAft>
              <a:buSzPct val="100000"/>
              <a:buChar char="–"/>
            </a:pPr>
            <a:r>
              <a:rPr lang="en-US" sz="1250" dirty="0">
                <a:solidFill>
                  <a:srgbClr val="E6EF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Recordings stay on-device; only transcript text reaches a hosted model, if enabled</a:t>
            </a:r>
            <a:endParaRPr lang="en-US" sz="1250" dirty="0"/>
          </a:p>
          <a:p>
            <a:pPr marL="152400" indent="-152400">
              <a:spcAft>
                <a:spcPts val="900"/>
              </a:spcAft>
              <a:buSzPct val="100000"/>
              <a:buChar char="–"/>
            </a:pPr>
            <a:r>
              <a:rPr lang="en-US" sz="1250" dirty="0">
                <a:solidFill>
                  <a:srgbClr val="E6EF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silent switching to paid providers — auto only steps down: hosted → local → offline</a:t>
            </a:r>
            <a:endParaRPr lang="en-US" sz="1250" dirty="0"/>
          </a:p>
          <a:p>
            <a:pPr marL="152400" indent="-152400">
              <a:spcAft>
                <a:spcPts val="900"/>
              </a:spcAft>
              <a:buSzPct val="100000"/>
              <a:buChar char="–"/>
            </a:pPr>
            <a:r>
              <a:rPr lang="en-US" sz="1250" dirty="0">
                <a:solidFill>
                  <a:srgbClr val="E6EF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Unapproved lessons invisible to trainees — 403 enforced server-side</a:t>
            </a:r>
            <a:endParaRPr lang="en-US" sz="1250" dirty="0"/>
          </a:p>
          <a:p>
            <a:pPr marL="152400" indent="-152400">
              <a:spcAft>
                <a:spcPts val="900"/>
              </a:spcAft>
              <a:buSzPct val="100000"/>
              <a:buChar char="–"/>
            </a:pPr>
            <a:r>
              <a:rPr lang="en-US" sz="1250" dirty="0">
                <a:solidFill>
                  <a:srgbClr val="E6EF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Hallucinated citations rejected — quotes must match the transcript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F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Verified the way engineers verify — not slideware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16/16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2121408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A3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end-to-end checks passing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3328416" y="123444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3328416" y="2121408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A3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offline demo capability — zero network, zero keys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199632" y="123444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6199632" y="2121408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A3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paid API calls in the default configuration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070848" y="123444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9070848" y="2121408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A3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guided simulator steps incl. a recovery scenario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11274552" cy="0"/>
          </a:xfrm>
          <a:prstGeom prst="line">
            <a:avLst/>
          </a:prstGeom>
          <a:noFill/>
          <a:ln w="9525">
            <a:solidFill>
              <a:srgbClr val="23392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1272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the automated suite proves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3566160"/>
            <a:ext cx="5577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900"/>
              </a:spcAft>
              <a:buSzPct val="100000"/>
              <a:buChar char="–"/>
            </a:pPr>
            <a:r>
              <a:rPr lang="en-US" sz="1250" dirty="0">
                <a:solidFill>
                  <a:srgbClr val="E6EF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Trainee cannot fetch an unapproved lesson — 403, server-enforced</a:t>
            </a:r>
            <a:endParaRPr lang="en-US" sz="1250" dirty="0"/>
          </a:p>
          <a:p>
            <a:pPr marL="152400" indent="-152400">
              <a:spcAft>
                <a:spcPts val="900"/>
              </a:spcAft>
              <a:buSzPct val="100000"/>
              <a:buChar char="–"/>
            </a:pPr>
            <a:r>
              <a:rPr lang="en-US" sz="1250" dirty="0">
                <a:solidFill>
                  <a:srgbClr val="E6EF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Out-of-range or non-matching evidence references rejected before review</a:t>
            </a:r>
            <a:endParaRPr lang="en-US" sz="1250" dirty="0"/>
          </a:p>
          <a:p>
            <a:pPr marL="152400" indent="-152400">
              <a:spcAft>
                <a:spcPts val="900"/>
              </a:spcAft>
              <a:buSzPct val="100000"/>
              <a:buChar char="–"/>
            </a:pPr>
            <a:r>
              <a:rPr lang="en-US" sz="1250" dirty="0">
                <a:solidFill>
                  <a:srgbClr val="E6EF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Approval blocked while any follow-up question is unresolved</a:t>
            </a:r>
            <a:endParaRPr lang="en-US" sz="1250" dirty="0"/>
          </a:p>
          <a:p>
            <a:pPr marL="152400" indent="-152400">
              <a:spcAft>
                <a:spcPts val="900"/>
              </a:spcAft>
              <a:buSzPct val="100000"/>
              <a:buChar char="–"/>
            </a:pPr>
            <a:r>
              <a:rPr lang="en-US" sz="1250" dirty="0">
                <a:solidFill>
                  <a:srgbClr val="E6EF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Attempt scores recomputed server-side — client cannot fake a 100</a:t>
            </a:r>
            <a:endParaRPr lang="en-US" sz="1250" dirty="0"/>
          </a:p>
          <a:p>
            <a:pPr marL="152400" indent="-152400">
              <a:spcAft>
                <a:spcPts val="900"/>
              </a:spcAft>
              <a:buSzPct val="100000"/>
              <a:buChar char="–"/>
            </a:pPr>
            <a:r>
              <a:rPr lang="en-US" sz="1250" dirty="0">
                <a:solidFill>
                  <a:srgbClr val="E6EF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survives restart; interrupted jobs marked failed, never stuck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0" y="312724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 ran live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3566160"/>
            <a:ext cx="5349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900"/>
              </a:spcAft>
              <a:buSzPct val="100000"/>
              <a:buChar char="–"/>
            </a:pPr>
            <a:r>
              <a:rPr lang="en-US" sz="1250" dirty="0">
                <a:solidFill>
                  <a:srgbClr val="E6EF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browser walkthrough: capture → review (answers + approval) → practice (all 5 steps) → attempt stored</a:t>
            </a:r>
            <a:endParaRPr lang="en-US" sz="1250" dirty="0"/>
          </a:p>
          <a:p>
            <a:pPr marL="152400" indent="-152400">
              <a:spcAft>
                <a:spcPts val="900"/>
              </a:spcAft>
              <a:buSzPct val="100000"/>
              <a:buChar char="–"/>
            </a:pPr>
            <a:r>
              <a:rPr lang="en-US" sz="1250" dirty="0">
                <a:solidFill>
                  <a:srgbClr val="E6EF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Wrong adjustment penalised exactly as designed (95/100 with one mistake)</a:t>
            </a:r>
            <a:endParaRPr lang="en-US" sz="1250" dirty="0"/>
          </a:p>
          <a:p>
            <a:pPr marL="152400" indent="-152400">
              <a:spcAft>
                <a:spcPts val="900"/>
              </a:spcAft>
              <a:buSzPct val="100000"/>
              <a:buChar char="–"/>
            </a:pPr>
            <a:r>
              <a:rPr lang="en-US" sz="1250" dirty="0">
                <a:solidFill>
                  <a:srgbClr val="E6EF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Provider failure paths: malformed AI output, dead provider, oversized upload — all fail loudly with guidance</a:t>
            </a:r>
            <a:endParaRPr lang="en-US" sz="1250" dirty="0"/>
          </a:p>
          <a:p>
            <a:pPr marL="152400" indent="-152400">
              <a:spcAft>
                <a:spcPts val="900"/>
              </a:spcAft>
              <a:buSzPct val="100000"/>
              <a:buChar char="–"/>
            </a:pPr>
            <a:r>
              <a:rPr lang="en-US" sz="1250" dirty="0">
                <a:solidFill>
                  <a:srgbClr val="E6EF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&amp; provider readiness surfaced in the UI (hosted/local/offline provenance)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5989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A3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Planned effectiveness study (disclosed, small-sample): trainees with Takumi vs. conventional written instructions — measure completion time, mistakes, assistance needed. No effectiveness claims until measured.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6E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Takumi test suite &amp; verification log, docs/VERIFICATION.md, October 2026.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18895" y="0"/>
            <a:ext cx="0" cy="6858000"/>
          </a:xfrm>
          <a:prstGeom prst="line">
            <a:avLst/>
          </a:prstGeom>
          <a:noFill/>
          <a:ln w="6350">
            <a:solidFill>
              <a:srgbClr val="2339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437790" y="0"/>
            <a:ext cx="0" cy="6858000"/>
          </a:xfrm>
          <a:prstGeom prst="line">
            <a:avLst/>
          </a:prstGeom>
          <a:noFill/>
          <a:ln w="6350">
            <a:solidFill>
              <a:srgbClr val="23392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6686" y="0"/>
            <a:ext cx="0" cy="6858000"/>
          </a:xfrm>
          <a:prstGeom prst="line">
            <a:avLst/>
          </a:prstGeom>
          <a:noFill/>
          <a:ln w="6350">
            <a:solidFill>
              <a:srgbClr val="23392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875581" y="0"/>
            <a:ext cx="0" cy="6858000"/>
          </a:xfrm>
          <a:prstGeom prst="line">
            <a:avLst/>
          </a:prstGeom>
          <a:noFill/>
          <a:ln w="6350">
            <a:solidFill>
              <a:srgbClr val="23392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4476" y="0"/>
            <a:ext cx="0" cy="6858000"/>
          </a:xfrm>
          <a:prstGeom prst="line">
            <a:avLst/>
          </a:prstGeom>
          <a:noFill/>
          <a:ln w="6350">
            <a:solidFill>
              <a:srgbClr val="23392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3371" y="0"/>
            <a:ext cx="0" cy="6858000"/>
          </a:xfrm>
          <a:prstGeom prst="line">
            <a:avLst/>
          </a:prstGeom>
          <a:noFill/>
          <a:ln w="6350">
            <a:solidFill>
              <a:srgbClr val="23392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32266" y="0"/>
            <a:ext cx="0" cy="6858000"/>
          </a:xfrm>
          <a:prstGeom prst="line">
            <a:avLst/>
          </a:prstGeom>
          <a:noFill/>
          <a:ln w="6350">
            <a:solidFill>
              <a:srgbClr val="23392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751162" y="0"/>
            <a:ext cx="0" cy="6858000"/>
          </a:xfrm>
          <a:prstGeom prst="line">
            <a:avLst/>
          </a:prstGeom>
          <a:noFill/>
          <a:ln w="6350">
            <a:solidFill>
              <a:srgbClr val="23392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0057" y="0"/>
            <a:ext cx="0" cy="6858000"/>
          </a:xfrm>
          <a:prstGeom prst="line">
            <a:avLst/>
          </a:prstGeom>
          <a:noFill/>
          <a:ln w="6350">
            <a:solidFill>
              <a:srgbClr val="23392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143000"/>
            <a:ext cx="12188952" cy="0"/>
          </a:xfrm>
          <a:prstGeom prst="line">
            <a:avLst/>
          </a:prstGeom>
          <a:noFill/>
          <a:ln w="6350">
            <a:solidFill>
              <a:srgbClr val="23392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2286000"/>
            <a:ext cx="12188952" cy="0"/>
          </a:xfrm>
          <a:prstGeom prst="line">
            <a:avLst/>
          </a:prstGeom>
          <a:noFill/>
          <a:ln w="6350">
            <a:solidFill>
              <a:srgbClr val="23392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3429000"/>
            <a:ext cx="12188952" cy="0"/>
          </a:xfrm>
          <a:prstGeom prst="line">
            <a:avLst/>
          </a:prstGeom>
          <a:noFill/>
          <a:ln w="6350">
            <a:solidFill>
              <a:srgbClr val="23392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4572000"/>
            <a:ext cx="12188952" cy="0"/>
          </a:xfrm>
          <a:prstGeom prst="line">
            <a:avLst/>
          </a:prstGeom>
          <a:noFill/>
          <a:ln w="6350">
            <a:solidFill>
              <a:srgbClr val="23392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5715000"/>
            <a:ext cx="12188952" cy="0"/>
          </a:xfrm>
          <a:prstGeom prst="line">
            <a:avLst/>
          </a:prstGeom>
          <a:noFill/>
          <a:ln w="6350">
            <a:solidFill>
              <a:srgbClr val="23392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F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Takumi goes after the bench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57200" y="120700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hypothesis — to be validated with customers, not assumed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" y="16276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AA3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Organisation subscription for teams that must inherit skills: Japanese SMEs onboarding an Indian workforce, maintenance &amp; vocational training institutes, and manufacturing partners — the exact corridor JETRO serves. Pilots would measure time-to-competence before any pricing claim.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457200" y="2651760"/>
            <a:ext cx="3611880" cy="1554480"/>
          </a:xfrm>
          <a:prstGeom prst="roundRect">
            <a:avLst>
              <a:gd name="adj" fmla="val 4706"/>
            </a:avLst>
          </a:prstGeom>
          <a:solidFill>
            <a:srgbClr val="16241F"/>
          </a:solidFill>
          <a:ln w="9525">
            <a:solidFill>
              <a:srgbClr val="23392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28346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 PAYS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58368" y="3182112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F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Factories, training institutes, service organisations with retiring experts and rotating trainees.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315968" y="2651760"/>
            <a:ext cx="3611880" cy="1554480"/>
          </a:xfrm>
          <a:prstGeom prst="roundRect">
            <a:avLst>
              <a:gd name="adj" fmla="val 4706"/>
            </a:avLst>
          </a:prstGeom>
          <a:solidFill>
            <a:srgbClr val="16241F"/>
          </a:solidFill>
          <a:ln w="9525">
            <a:solidFill>
              <a:srgbClr val="23392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17136" y="28346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US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17136" y="3182112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F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Evidence-verified lessons, expert-in-the-loop approval, offline-capable — built for shop floors, not just offices.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174736" y="2651760"/>
            <a:ext cx="3611880" cy="1554480"/>
          </a:xfrm>
          <a:prstGeom prst="roundRect">
            <a:avLst>
              <a:gd name="adj" fmla="val 4706"/>
            </a:avLst>
          </a:prstGeom>
          <a:solidFill>
            <a:srgbClr val="16241F"/>
          </a:solidFill>
          <a:ln w="9525">
            <a:solidFill>
              <a:srgbClr val="23392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75904" y="28346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PILOT PLAN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375904" y="3182112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F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departments · 2 lessons each · measure time-to-competence and mistakes vs. current handover method.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57200" y="4572000"/>
            <a:ext cx="11274552" cy="0"/>
          </a:xfrm>
          <a:prstGeom prst="line">
            <a:avLst/>
          </a:prstGeom>
          <a:noFill/>
          <a:ln w="9525">
            <a:solidFill>
              <a:srgbClr val="23392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7548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ASK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5074920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E6EF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JETRO-introduced factory or training partner for a real pilot recording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E6EF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Mentor feedback on the evidence-validation approach for industrial know-how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OCT </a:t>
            </a:r>
            <a:pPr indent="0" marL="0">
              <a:buNone/>
            </a:pPr>
            <a:r>
              <a:rPr lang="en-US" sz="1250" dirty="0">
                <a:solidFill>
                  <a:srgbClr val="8AA3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Round-1 submission      </a:t>
            </a:r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24–25 OCT </a:t>
            </a:r>
            <a:pPr indent="0" marL="0">
              <a:buNone/>
            </a:pPr>
            <a:r>
              <a:rPr lang="en-US" sz="1250" dirty="0">
                <a:solidFill>
                  <a:srgbClr val="8AA3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build &amp; pitch — demo runs offline from one command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57200" y="64465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C6E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匠  Takumi — bridging tradition and innovation, one demonstration at a time.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Takumi — JETRO-PS-03 — Thapar Japan Hackathon 2026</dc:title>
  <dc:subject>PptxGenJS Presentation</dc:subject>
  <dc:creator>Takumi Team</dc:creator>
  <cp:lastModifiedBy>Takumi Team</cp:lastModifiedBy>
  <cp:revision>1</cp:revision>
  <dcterms:created xsi:type="dcterms:W3CDTF">2026-10-05T11:22:10Z</dcterms:created>
  <dcterms:modified xsi:type="dcterms:W3CDTF">2026-10-05T11:22:10Z</dcterms:modified>
</cp:coreProperties>
</file>